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Helvetica World" charset="1" panose="020B0500040000020004"/>
      <p:regular r:id="rId11"/>
    </p:embeddedFont>
    <p:embeddedFont>
      <p:font typeface="Arial Nova" charset="1" panose="020B0504020202020204"/>
      <p:regular r:id="rId12"/>
    </p:embeddedFont>
    <p:embeddedFont>
      <p:font typeface="Aptos" charset="1" panose="020B0004020202020204"/>
      <p:regular r:id="rId13"/>
    </p:embeddedFont>
    <p:embeddedFont>
      <p:font typeface="Aptos Bold" charset="1" panose="020B00040202020202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4219058" y="1028700"/>
            <a:ext cx="0" cy="8229600"/>
          </a:xfrm>
          <a:prstGeom prst="line">
            <a:avLst/>
          </a:prstGeom>
          <a:ln cap="flat" w="19050">
            <a:solidFill>
              <a:srgbClr val="177E8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2714796" cy="10287000"/>
            <a:chOff x="0" y="0"/>
            <a:chExt cx="420593" cy="15937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0593" cy="1593725"/>
            </a:xfrm>
            <a:custGeom>
              <a:avLst/>
              <a:gdLst/>
              <a:ahLst/>
              <a:cxnLst/>
              <a:rect r="r" b="b" t="t" l="l"/>
              <a:pathLst>
                <a:path h="1593725" w="420593">
                  <a:moveTo>
                    <a:pt x="0" y="0"/>
                  </a:moveTo>
                  <a:lnTo>
                    <a:pt x="420593" y="0"/>
                  </a:lnTo>
                  <a:lnTo>
                    <a:pt x="42059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120471" t="0" r="-6372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3480882" y="8377238"/>
            <a:ext cx="711436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spc="-96">
                <a:solidFill>
                  <a:srgbClr val="54545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Are employees engaged and where does the experience break down?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80882" y="1266825"/>
            <a:ext cx="8059361" cy="475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45"/>
              </a:lnSpc>
            </a:pPr>
            <a:r>
              <a:rPr lang="en-US" sz="12345" spc="-987">
                <a:solidFill>
                  <a:srgbClr val="15324B"/>
                </a:solidFill>
                <a:latin typeface="Arial Nova"/>
                <a:ea typeface="Arial Nova"/>
                <a:cs typeface="Arial Nova"/>
                <a:sym typeface="Arial Nova"/>
              </a:rPr>
              <a:t>Employee Engagement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645131" y="1038225"/>
            <a:ext cx="2614169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-72">
                <a:solidFill>
                  <a:srgbClr val="54545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Vanessa Gray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9525" y="-9525"/>
            <a:ext cx="18306593" cy="238506"/>
            <a:chOff x="0" y="0"/>
            <a:chExt cx="24408790" cy="3180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408764" cy="318008"/>
            </a:xfrm>
            <a:custGeom>
              <a:avLst/>
              <a:gdLst/>
              <a:ahLst/>
              <a:cxnLst/>
              <a:rect r="r" b="b" t="t" l="l"/>
              <a:pathLst>
                <a:path h="318008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318008"/>
                  </a:lnTo>
                  <a:lnTo>
                    <a:pt x="0" y="318008"/>
                  </a:lnTo>
                  <a:close/>
                </a:path>
              </a:pathLst>
            </a:custGeom>
            <a:solidFill>
              <a:srgbClr val="15324B"/>
            </a:solidFill>
            <a:ln w="19050" cap="sq">
              <a:solidFill>
                <a:srgbClr val="15324B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238506"/>
            <a:chOff x="0" y="0"/>
            <a:chExt cx="24408790" cy="3180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318008"/>
            </a:xfrm>
            <a:custGeom>
              <a:avLst/>
              <a:gdLst/>
              <a:ahLst/>
              <a:cxnLst/>
              <a:rect r="r" b="b" t="t" l="l"/>
              <a:pathLst>
                <a:path h="318008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318008"/>
                  </a:lnTo>
                  <a:lnTo>
                    <a:pt x="0" y="318008"/>
                  </a:lnTo>
                  <a:close/>
                </a:path>
              </a:pathLst>
            </a:custGeom>
            <a:solidFill>
              <a:srgbClr val="15324B"/>
            </a:solidFill>
            <a:ln w="19050" cap="sq">
              <a:solidFill>
                <a:srgbClr val="15324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9793224"/>
            <a:ext cx="12070080" cy="246888"/>
            <a:chOff x="0" y="0"/>
            <a:chExt cx="16093440" cy="3291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093439" cy="329184"/>
            </a:xfrm>
            <a:custGeom>
              <a:avLst/>
              <a:gdLst/>
              <a:ahLst/>
              <a:cxnLst/>
              <a:rect r="r" b="b" t="t" l="l"/>
              <a:pathLst>
                <a:path h="329184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601" r="0" b="-90260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609344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6B7280"/>
                  </a:solidFill>
                  <a:latin typeface="Aptos"/>
                  <a:ea typeface="Aptos"/>
                  <a:cs typeface="Aptos"/>
                  <a:sym typeface="Aptos"/>
                </a:rPr>
                <a:t>2024 OPM Federal Employee Viewpoint Survey • People Analytics Case Study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950440" y="9793224"/>
            <a:ext cx="2537460" cy="246888"/>
            <a:chOff x="0" y="0"/>
            <a:chExt cx="3383280" cy="3291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83280" cy="329184"/>
            </a:xfrm>
            <a:custGeom>
              <a:avLst/>
              <a:gdLst/>
              <a:ahLst/>
              <a:cxnLst/>
              <a:rect r="r" b="b" t="t" l="l"/>
              <a:pathLst>
                <a:path h="329184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262" r="0" b="-15026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38328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B7280"/>
                  </a:solidFill>
                  <a:latin typeface="Aptos"/>
                  <a:ea typeface="Aptos"/>
                  <a:cs typeface="Aptos"/>
                  <a:sym typeface="Aptos"/>
                </a:rPr>
                <a:t>Vanessa Gray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7824" y="677779"/>
            <a:ext cx="5173335" cy="392069"/>
            <a:chOff x="0" y="0"/>
            <a:chExt cx="6949440" cy="52667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49440" cy="526673"/>
            </a:xfrm>
            <a:custGeom>
              <a:avLst/>
              <a:gdLst/>
              <a:ahLst/>
              <a:cxnLst/>
              <a:rect r="r" b="b" t="t" l="l"/>
              <a:pathLst>
                <a:path h="526673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526673"/>
                  </a:lnTo>
                  <a:lnTo>
                    <a:pt x="0" y="5266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8908" r="0" b="-19530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6949440" cy="536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b="true" sz="2099" spc="251">
                  <a:solidFill>
                    <a:srgbClr val="177E8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THE QUESTION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0392" y="1069848"/>
            <a:ext cx="16459200" cy="1069848"/>
            <a:chOff x="0" y="0"/>
            <a:chExt cx="21945600" cy="14264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426464"/>
            </a:xfrm>
            <a:custGeom>
              <a:avLst/>
              <a:gdLst/>
              <a:ahLst/>
              <a:cxnLst/>
              <a:rect r="r" b="b" t="t" l="l"/>
              <a:pathLst>
                <a:path h="142646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9769" r="0" b="-24976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1945600" cy="1426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532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Are employees engaged?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77824" y="2139696"/>
            <a:ext cx="16047720" cy="617220"/>
            <a:chOff x="0" y="0"/>
            <a:chExt cx="21396960" cy="8229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822960"/>
            </a:xfrm>
            <a:custGeom>
              <a:avLst/>
              <a:gdLst/>
              <a:ahLst/>
              <a:cxnLst/>
              <a:rect r="r" b="b" t="t" l="l"/>
              <a:pathLst>
                <a:path h="8229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6610" r="0" b="-45661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B7280"/>
                  </a:solidFill>
                  <a:latin typeface="Aptos"/>
                  <a:ea typeface="Aptos"/>
                  <a:cs typeface="Aptos"/>
                  <a:sym typeface="Aptos"/>
                </a:rPr>
                <a:t>A survey of 674,207 federal employees reveals a generally positive picture, but not a uniform one.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82015" y="2980563"/>
            <a:ext cx="3379470" cy="1527810"/>
            <a:chOff x="0" y="0"/>
            <a:chExt cx="4505960" cy="2037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505960" cy="2037080"/>
            </a:xfrm>
            <a:custGeom>
              <a:avLst/>
              <a:gdLst/>
              <a:ahLst/>
              <a:cxnLst/>
              <a:rect r="r" b="b" t="t" l="l"/>
              <a:pathLst>
                <a:path h="2037080" w="450596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4357751" y="0"/>
                  </a:lnTo>
                  <a:cubicBezTo>
                    <a:pt x="4439539" y="0"/>
                    <a:pt x="4505960" y="66294"/>
                    <a:pt x="4505960" y="148209"/>
                  </a:cubicBezTo>
                  <a:lnTo>
                    <a:pt x="4505960" y="1888871"/>
                  </a:lnTo>
                  <a:cubicBezTo>
                    <a:pt x="4505960" y="1970659"/>
                    <a:pt x="4439666" y="2037080"/>
                    <a:pt x="4357751" y="2037080"/>
                  </a:cubicBezTo>
                  <a:lnTo>
                    <a:pt x="148209" y="2037080"/>
                  </a:lnTo>
                  <a:cubicBezTo>
                    <a:pt x="66294" y="2037080"/>
                    <a:pt x="0" y="1970786"/>
                    <a:pt x="0" y="188887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1E8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138428" y="3195828"/>
            <a:ext cx="2866644" cy="603504"/>
            <a:chOff x="0" y="0"/>
            <a:chExt cx="3822192" cy="80467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22192" cy="804672"/>
            </a:xfrm>
            <a:custGeom>
              <a:avLst/>
              <a:gdLst/>
              <a:ahLst/>
              <a:cxnLst/>
              <a:rect r="r" b="b" t="t" l="l"/>
              <a:pathLst>
                <a:path h="804672" w="3822192">
                  <a:moveTo>
                    <a:pt x="0" y="0"/>
                  </a:moveTo>
                  <a:lnTo>
                    <a:pt x="3822192" y="0"/>
                  </a:lnTo>
                  <a:lnTo>
                    <a:pt x="382219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3822192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77E8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674K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38428" y="3895344"/>
            <a:ext cx="2866644" cy="356616"/>
            <a:chOff x="0" y="0"/>
            <a:chExt cx="3822192" cy="4754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22192" cy="475488"/>
            </a:xfrm>
            <a:custGeom>
              <a:avLst/>
              <a:gdLst/>
              <a:ahLst/>
              <a:cxnLst/>
              <a:rect r="r" b="b" t="t" l="l"/>
              <a:pathLst>
                <a:path h="475488" w="3822192">
                  <a:moveTo>
                    <a:pt x="0" y="0"/>
                  </a:moveTo>
                  <a:lnTo>
                    <a:pt x="3822192" y="0"/>
                  </a:lnTo>
                  <a:lnTo>
                    <a:pt x="3822192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6629" r="0" b="-10662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3822192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survey responses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489323" y="2980563"/>
            <a:ext cx="3379470" cy="1527810"/>
            <a:chOff x="0" y="0"/>
            <a:chExt cx="4505960" cy="20370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505960" cy="2037080"/>
            </a:xfrm>
            <a:custGeom>
              <a:avLst/>
              <a:gdLst/>
              <a:ahLst/>
              <a:cxnLst/>
              <a:rect r="r" b="b" t="t" l="l"/>
              <a:pathLst>
                <a:path h="2037080" w="450596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4357751" y="0"/>
                  </a:lnTo>
                  <a:cubicBezTo>
                    <a:pt x="4439539" y="0"/>
                    <a:pt x="4505960" y="66294"/>
                    <a:pt x="4505960" y="148209"/>
                  </a:cubicBezTo>
                  <a:lnTo>
                    <a:pt x="4505960" y="1888871"/>
                  </a:lnTo>
                  <a:cubicBezTo>
                    <a:pt x="4505960" y="1970659"/>
                    <a:pt x="4439666" y="2037080"/>
                    <a:pt x="4357751" y="2037080"/>
                  </a:cubicBezTo>
                  <a:lnTo>
                    <a:pt x="148209" y="2037080"/>
                  </a:lnTo>
                  <a:cubicBezTo>
                    <a:pt x="66294" y="2037080"/>
                    <a:pt x="0" y="1970786"/>
                    <a:pt x="0" y="188887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1E8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4745736" y="3195828"/>
            <a:ext cx="2866644" cy="603504"/>
            <a:chOff x="0" y="0"/>
            <a:chExt cx="3822192" cy="80467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822192" cy="804672"/>
            </a:xfrm>
            <a:custGeom>
              <a:avLst/>
              <a:gdLst/>
              <a:ahLst/>
              <a:cxnLst/>
              <a:rect r="r" b="b" t="t" l="l"/>
              <a:pathLst>
                <a:path h="804672" w="3822192">
                  <a:moveTo>
                    <a:pt x="0" y="0"/>
                  </a:moveTo>
                  <a:lnTo>
                    <a:pt x="3822192" y="0"/>
                  </a:lnTo>
                  <a:lnTo>
                    <a:pt x="382219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822192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532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3.95 / 5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745736" y="3895344"/>
            <a:ext cx="2866644" cy="356616"/>
            <a:chOff x="0" y="0"/>
            <a:chExt cx="3822192" cy="47548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822192" cy="475488"/>
            </a:xfrm>
            <a:custGeom>
              <a:avLst/>
              <a:gdLst/>
              <a:ahLst/>
              <a:cxnLst/>
              <a:rect r="r" b="b" t="t" l="l"/>
              <a:pathLst>
                <a:path h="475488" w="3822192">
                  <a:moveTo>
                    <a:pt x="0" y="0"/>
                  </a:moveTo>
                  <a:lnTo>
                    <a:pt x="3822192" y="0"/>
                  </a:lnTo>
                  <a:lnTo>
                    <a:pt x="3822192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6629" r="0" b="-10662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822192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average engagement score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096631" y="2980563"/>
            <a:ext cx="3379470" cy="1527810"/>
            <a:chOff x="0" y="0"/>
            <a:chExt cx="4505960" cy="2037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05960" cy="2037080"/>
            </a:xfrm>
            <a:custGeom>
              <a:avLst/>
              <a:gdLst/>
              <a:ahLst/>
              <a:cxnLst/>
              <a:rect r="r" b="b" t="t" l="l"/>
              <a:pathLst>
                <a:path h="2037080" w="450596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4357751" y="0"/>
                  </a:lnTo>
                  <a:cubicBezTo>
                    <a:pt x="4439539" y="0"/>
                    <a:pt x="4505960" y="66294"/>
                    <a:pt x="4505960" y="148209"/>
                  </a:cubicBezTo>
                  <a:lnTo>
                    <a:pt x="4505960" y="1888871"/>
                  </a:lnTo>
                  <a:cubicBezTo>
                    <a:pt x="4505960" y="1970659"/>
                    <a:pt x="4439666" y="2037080"/>
                    <a:pt x="4357751" y="2037080"/>
                  </a:cubicBezTo>
                  <a:lnTo>
                    <a:pt x="148209" y="2037080"/>
                  </a:lnTo>
                  <a:cubicBezTo>
                    <a:pt x="66294" y="2037080"/>
                    <a:pt x="0" y="1970786"/>
                    <a:pt x="0" y="188887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1E8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8353044" y="3195828"/>
            <a:ext cx="2866644" cy="603504"/>
            <a:chOff x="0" y="0"/>
            <a:chExt cx="3822192" cy="80467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822192" cy="804672"/>
            </a:xfrm>
            <a:custGeom>
              <a:avLst/>
              <a:gdLst/>
              <a:ahLst/>
              <a:cxnLst/>
              <a:rect r="r" b="b" t="t" l="l"/>
              <a:pathLst>
                <a:path h="804672" w="3822192">
                  <a:moveTo>
                    <a:pt x="0" y="0"/>
                  </a:moveTo>
                  <a:lnTo>
                    <a:pt x="3822192" y="0"/>
                  </a:lnTo>
                  <a:lnTo>
                    <a:pt x="382219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3822192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E4B36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4.07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353044" y="3895344"/>
            <a:ext cx="2866644" cy="356616"/>
            <a:chOff x="0" y="0"/>
            <a:chExt cx="3822192" cy="47548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822192" cy="475488"/>
            </a:xfrm>
            <a:custGeom>
              <a:avLst/>
              <a:gdLst/>
              <a:ahLst/>
              <a:cxnLst/>
              <a:rect r="r" b="b" t="t" l="l"/>
              <a:pathLst>
                <a:path h="475488" w="3822192">
                  <a:moveTo>
                    <a:pt x="0" y="0"/>
                  </a:moveTo>
                  <a:lnTo>
                    <a:pt x="3822192" y="0"/>
                  </a:lnTo>
                  <a:lnTo>
                    <a:pt x="3822192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6629" r="0" b="-10662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3822192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median engagement score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703939" y="2980563"/>
            <a:ext cx="3379470" cy="1527810"/>
            <a:chOff x="0" y="0"/>
            <a:chExt cx="4505960" cy="20370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505960" cy="2037080"/>
            </a:xfrm>
            <a:custGeom>
              <a:avLst/>
              <a:gdLst/>
              <a:ahLst/>
              <a:cxnLst/>
              <a:rect r="r" b="b" t="t" l="l"/>
              <a:pathLst>
                <a:path h="2037080" w="450596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4357751" y="0"/>
                  </a:lnTo>
                  <a:cubicBezTo>
                    <a:pt x="4439539" y="0"/>
                    <a:pt x="4505960" y="66294"/>
                    <a:pt x="4505960" y="148209"/>
                  </a:cubicBezTo>
                  <a:lnTo>
                    <a:pt x="4505960" y="1888871"/>
                  </a:lnTo>
                  <a:cubicBezTo>
                    <a:pt x="4505960" y="1970659"/>
                    <a:pt x="4439666" y="2037080"/>
                    <a:pt x="4357751" y="2037080"/>
                  </a:cubicBezTo>
                  <a:lnTo>
                    <a:pt x="148209" y="2037080"/>
                  </a:lnTo>
                  <a:cubicBezTo>
                    <a:pt x="66294" y="2037080"/>
                    <a:pt x="0" y="1970786"/>
                    <a:pt x="0" y="188887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1E8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1960352" y="3195828"/>
            <a:ext cx="2866644" cy="603504"/>
            <a:chOff x="0" y="0"/>
            <a:chExt cx="3822192" cy="80467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822192" cy="804672"/>
            </a:xfrm>
            <a:custGeom>
              <a:avLst/>
              <a:gdLst/>
              <a:ahLst/>
              <a:cxnLst/>
              <a:rect r="r" b="b" t="t" l="l"/>
              <a:pathLst>
                <a:path h="804672" w="3822192">
                  <a:moveTo>
                    <a:pt x="0" y="0"/>
                  </a:moveTo>
                  <a:lnTo>
                    <a:pt x="3822192" y="0"/>
                  </a:lnTo>
                  <a:lnTo>
                    <a:pt x="382219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822192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77E8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0.95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960352" y="3895344"/>
            <a:ext cx="2866644" cy="356616"/>
            <a:chOff x="0" y="0"/>
            <a:chExt cx="3822192" cy="47548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822192" cy="475488"/>
            </a:xfrm>
            <a:custGeom>
              <a:avLst/>
              <a:gdLst/>
              <a:ahLst/>
              <a:cxnLst/>
              <a:rect r="r" b="b" t="t" l="l"/>
              <a:pathLst>
                <a:path h="475488" w="3822192">
                  <a:moveTo>
                    <a:pt x="0" y="0"/>
                  </a:moveTo>
                  <a:lnTo>
                    <a:pt x="3822192" y="0"/>
                  </a:lnTo>
                  <a:lnTo>
                    <a:pt x="3822192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6629" r="0" b="-106629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822192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overall scale reliability (α)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82015" y="5065395"/>
            <a:ext cx="16066770" cy="3516630"/>
            <a:chOff x="0" y="0"/>
            <a:chExt cx="21422360" cy="46888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1422361" cy="4688840"/>
            </a:xfrm>
            <a:custGeom>
              <a:avLst/>
              <a:gdLst/>
              <a:ahLst/>
              <a:cxnLst/>
              <a:rect r="r" b="b" t="t" l="l"/>
              <a:pathLst>
                <a:path h="4688840" w="21422361">
                  <a:moveTo>
                    <a:pt x="0" y="781431"/>
                  </a:moveTo>
                  <a:cubicBezTo>
                    <a:pt x="0" y="349885"/>
                    <a:pt x="349885" y="0"/>
                    <a:pt x="781431" y="0"/>
                  </a:cubicBezTo>
                  <a:lnTo>
                    <a:pt x="20640929" y="0"/>
                  </a:lnTo>
                  <a:cubicBezTo>
                    <a:pt x="21072475" y="0"/>
                    <a:pt x="21422361" y="349885"/>
                    <a:pt x="21422361" y="781431"/>
                  </a:cubicBezTo>
                  <a:lnTo>
                    <a:pt x="21422361" y="3907409"/>
                  </a:lnTo>
                  <a:cubicBezTo>
                    <a:pt x="21422361" y="4338955"/>
                    <a:pt x="21072475" y="4688840"/>
                    <a:pt x="20640929" y="4688840"/>
                  </a:cubicBezTo>
                  <a:lnTo>
                    <a:pt x="781431" y="4688840"/>
                  </a:lnTo>
                  <a:cubicBezTo>
                    <a:pt x="349885" y="4688840"/>
                    <a:pt x="0" y="4338955"/>
                    <a:pt x="0" y="39074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1E8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303020" y="5513832"/>
            <a:ext cx="3703320" cy="411480"/>
            <a:chOff x="0" y="0"/>
            <a:chExt cx="4937760" cy="548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937760" cy="548640"/>
            </a:xfrm>
            <a:custGeom>
              <a:avLst/>
              <a:gdLst/>
              <a:ahLst/>
              <a:cxnLst/>
              <a:rect r="r" b="b" t="t" l="l"/>
              <a:pathLst>
                <a:path h="5486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49377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77E8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The first signal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03020" y="5966460"/>
            <a:ext cx="7200900" cy="987552"/>
            <a:chOff x="0" y="0"/>
            <a:chExt cx="9601200" cy="131673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6012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078" r="0" b="-9207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960120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532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Most employees lean positive, but the distribution is not flat.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03020" y="7091172"/>
            <a:ext cx="7338060" cy="1165860"/>
            <a:chOff x="0" y="0"/>
            <a:chExt cx="9784080" cy="15544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784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641" r="0" b="-7264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9784080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Scores cluster toward the high end of the 1–5 scale, while a meaningful minority report substantially lower engagement. That makes “average engagement” only the starting point.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248775" y="7973187"/>
            <a:ext cx="307086" cy="265938"/>
            <a:chOff x="0" y="0"/>
            <a:chExt cx="409448" cy="35458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09448" cy="354584"/>
            </a:xfrm>
            <a:custGeom>
              <a:avLst/>
              <a:gdLst/>
              <a:ahLst/>
              <a:cxnLst/>
              <a:rect r="r" b="b" t="t" l="l"/>
              <a:pathLst>
                <a:path h="354584" w="409448">
                  <a:moveTo>
                    <a:pt x="0" y="0"/>
                  </a:moveTo>
                  <a:lnTo>
                    <a:pt x="409448" y="0"/>
                  </a:lnTo>
                  <a:lnTo>
                    <a:pt x="409448" y="354584"/>
                  </a:lnTo>
                  <a:lnTo>
                    <a:pt x="0" y="354584"/>
                  </a:lnTo>
                  <a:close/>
                </a:path>
              </a:pathLst>
            </a:custGeom>
            <a:solidFill>
              <a:srgbClr val="A9C8D1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632823" y="7890891"/>
            <a:ext cx="307086" cy="348234"/>
            <a:chOff x="0" y="0"/>
            <a:chExt cx="409448" cy="46431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09448" cy="464312"/>
            </a:xfrm>
            <a:custGeom>
              <a:avLst/>
              <a:gdLst/>
              <a:ahLst/>
              <a:cxnLst/>
              <a:rect r="r" b="b" t="t" l="l"/>
              <a:pathLst>
                <a:path h="464312" w="409448">
                  <a:moveTo>
                    <a:pt x="0" y="0"/>
                  </a:moveTo>
                  <a:lnTo>
                    <a:pt x="409448" y="0"/>
                  </a:lnTo>
                  <a:lnTo>
                    <a:pt x="409448" y="464312"/>
                  </a:lnTo>
                  <a:lnTo>
                    <a:pt x="0" y="464312"/>
                  </a:lnTo>
                  <a:close/>
                </a:path>
              </a:pathLst>
            </a:custGeom>
            <a:solidFill>
              <a:srgbClr val="A9C8D1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0016871" y="7767447"/>
            <a:ext cx="307086" cy="471678"/>
            <a:chOff x="0" y="0"/>
            <a:chExt cx="409448" cy="62890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09448" cy="628904"/>
            </a:xfrm>
            <a:custGeom>
              <a:avLst/>
              <a:gdLst/>
              <a:ahLst/>
              <a:cxnLst/>
              <a:rect r="r" b="b" t="t" l="l"/>
              <a:pathLst>
                <a:path h="628904" w="409448">
                  <a:moveTo>
                    <a:pt x="0" y="0"/>
                  </a:moveTo>
                  <a:lnTo>
                    <a:pt x="409448" y="0"/>
                  </a:lnTo>
                  <a:lnTo>
                    <a:pt x="409448" y="628904"/>
                  </a:lnTo>
                  <a:lnTo>
                    <a:pt x="0" y="628904"/>
                  </a:lnTo>
                  <a:close/>
                </a:path>
              </a:pathLst>
            </a:custGeom>
            <a:solidFill>
              <a:srgbClr val="A9C8D1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0400919" y="7561707"/>
            <a:ext cx="307086" cy="677418"/>
            <a:chOff x="0" y="0"/>
            <a:chExt cx="409448" cy="90322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09448" cy="903224"/>
            </a:xfrm>
            <a:custGeom>
              <a:avLst/>
              <a:gdLst/>
              <a:ahLst/>
              <a:cxnLst/>
              <a:rect r="r" b="b" t="t" l="l"/>
              <a:pathLst>
                <a:path h="903224" w="409448">
                  <a:moveTo>
                    <a:pt x="0" y="0"/>
                  </a:moveTo>
                  <a:lnTo>
                    <a:pt x="409448" y="0"/>
                  </a:lnTo>
                  <a:lnTo>
                    <a:pt x="409448" y="903224"/>
                  </a:lnTo>
                  <a:lnTo>
                    <a:pt x="0" y="903224"/>
                  </a:lnTo>
                  <a:close/>
                </a:path>
              </a:pathLst>
            </a:custGeom>
            <a:solidFill>
              <a:srgbClr val="A9C8D1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0784967" y="7287387"/>
            <a:ext cx="307086" cy="951738"/>
            <a:chOff x="0" y="0"/>
            <a:chExt cx="409448" cy="126898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09448" cy="1268984"/>
            </a:xfrm>
            <a:custGeom>
              <a:avLst/>
              <a:gdLst/>
              <a:ahLst/>
              <a:cxnLst/>
              <a:rect r="r" b="b" t="t" l="l"/>
              <a:pathLst>
                <a:path h="1268984" w="409448">
                  <a:moveTo>
                    <a:pt x="0" y="0"/>
                  </a:moveTo>
                  <a:lnTo>
                    <a:pt x="409448" y="0"/>
                  </a:lnTo>
                  <a:lnTo>
                    <a:pt x="409448" y="1268984"/>
                  </a:lnTo>
                  <a:lnTo>
                    <a:pt x="0" y="1268984"/>
                  </a:lnTo>
                  <a:close/>
                </a:path>
              </a:pathLst>
            </a:custGeom>
            <a:solidFill>
              <a:srgbClr val="A9C8D1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1169015" y="6985635"/>
            <a:ext cx="307086" cy="1253490"/>
            <a:chOff x="0" y="0"/>
            <a:chExt cx="409448" cy="16713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09448" cy="1671320"/>
            </a:xfrm>
            <a:custGeom>
              <a:avLst/>
              <a:gdLst/>
              <a:ahLst/>
              <a:cxnLst/>
              <a:rect r="r" b="b" t="t" l="l"/>
              <a:pathLst>
                <a:path h="1671320" w="409448">
                  <a:moveTo>
                    <a:pt x="0" y="0"/>
                  </a:moveTo>
                  <a:lnTo>
                    <a:pt x="409448" y="0"/>
                  </a:lnTo>
                  <a:lnTo>
                    <a:pt x="409448" y="1671320"/>
                  </a:lnTo>
                  <a:lnTo>
                    <a:pt x="0" y="1671320"/>
                  </a:lnTo>
                  <a:close/>
                </a:path>
              </a:pathLst>
            </a:custGeom>
            <a:solidFill>
              <a:srgbClr val="A9C8D1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1553063" y="6464427"/>
            <a:ext cx="307086" cy="1774698"/>
            <a:chOff x="0" y="0"/>
            <a:chExt cx="409448" cy="236626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09448" cy="2366264"/>
            </a:xfrm>
            <a:custGeom>
              <a:avLst/>
              <a:gdLst/>
              <a:ahLst/>
              <a:cxnLst/>
              <a:rect r="r" b="b" t="t" l="l"/>
              <a:pathLst>
                <a:path h="2366264" w="409448">
                  <a:moveTo>
                    <a:pt x="0" y="0"/>
                  </a:moveTo>
                  <a:lnTo>
                    <a:pt x="409448" y="0"/>
                  </a:lnTo>
                  <a:lnTo>
                    <a:pt x="409448" y="2366264"/>
                  </a:lnTo>
                  <a:lnTo>
                    <a:pt x="0" y="2366264"/>
                  </a:lnTo>
                  <a:close/>
                </a:path>
              </a:pathLst>
            </a:custGeom>
            <a:solidFill>
              <a:srgbClr val="A9C8D1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1937111" y="6094095"/>
            <a:ext cx="307086" cy="2145030"/>
            <a:chOff x="0" y="0"/>
            <a:chExt cx="409448" cy="28600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09448" cy="2860040"/>
            </a:xfrm>
            <a:custGeom>
              <a:avLst/>
              <a:gdLst/>
              <a:ahLst/>
              <a:cxnLst/>
              <a:rect r="r" b="b" t="t" l="l"/>
              <a:pathLst>
                <a:path h="2860040" w="409448">
                  <a:moveTo>
                    <a:pt x="0" y="0"/>
                  </a:moveTo>
                  <a:lnTo>
                    <a:pt x="409448" y="0"/>
                  </a:lnTo>
                  <a:lnTo>
                    <a:pt x="409448" y="2860040"/>
                  </a:lnTo>
                  <a:lnTo>
                    <a:pt x="0" y="2860040"/>
                  </a:lnTo>
                  <a:close/>
                </a:path>
              </a:pathLst>
            </a:custGeom>
            <a:solidFill>
              <a:srgbClr val="A9C8D1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2321159" y="5723763"/>
            <a:ext cx="307086" cy="2515362"/>
            <a:chOff x="0" y="0"/>
            <a:chExt cx="409448" cy="335381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09448" cy="3353816"/>
            </a:xfrm>
            <a:custGeom>
              <a:avLst/>
              <a:gdLst/>
              <a:ahLst/>
              <a:cxnLst/>
              <a:rect r="r" b="b" t="t" l="l"/>
              <a:pathLst>
                <a:path h="3353816" w="409448">
                  <a:moveTo>
                    <a:pt x="0" y="0"/>
                  </a:moveTo>
                  <a:lnTo>
                    <a:pt x="409448" y="0"/>
                  </a:lnTo>
                  <a:lnTo>
                    <a:pt x="409448" y="3353816"/>
                  </a:lnTo>
                  <a:lnTo>
                    <a:pt x="0" y="3353816"/>
                  </a:lnTo>
                  <a:close/>
                </a:path>
              </a:pathLst>
            </a:custGeom>
            <a:solidFill>
              <a:srgbClr val="A9C8D1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2705207" y="5408295"/>
            <a:ext cx="307086" cy="2830830"/>
            <a:chOff x="0" y="0"/>
            <a:chExt cx="409448" cy="37744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09448" cy="3774440"/>
            </a:xfrm>
            <a:custGeom>
              <a:avLst/>
              <a:gdLst/>
              <a:ahLst/>
              <a:cxnLst/>
              <a:rect r="r" b="b" t="t" l="l"/>
              <a:pathLst>
                <a:path h="3774440" w="409448">
                  <a:moveTo>
                    <a:pt x="0" y="0"/>
                  </a:moveTo>
                  <a:lnTo>
                    <a:pt x="409448" y="0"/>
                  </a:lnTo>
                  <a:lnTo>
                    <a:pt x="409448" y="3774440"/>
                  </a:lnTo>
                  <a:lnTo>
                    <a:pt x="0" y="3774440"/>
                  </a:lnTo>
                  <a:close/>
                </a:path>
              </a:pathLst>
            </a:custGeom>
            <a:solidFill>
              <a:srgbClr val="A9C8D1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3089255" y="5819775"/>
            <a:ext cx="307086" cy="2419350"/>
            <a:chOff x="0" y="0"/>
            <a:chExt cx="409448" cy="32258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09448" cy="3225800"/>
            </a:xfrm>
            <a:custGeom>
              <a:avLst/>
              <a:gdLst/>
              <a:ahLst/>
              <a:cxnLst/>
              <a:rect r="r" b="b" t="t" l="l"/>
              <a:pathLst>
                <a:path h="3225800" w="409448">
                  <a:moveTo>
                    <a:pt x="0" y="0"/>
                  </a:moveTo>
                  <a:lnTo>
                    <a:pt x="409448" y="0"/>
                  </a:lnTo>
                  <a:lnTo>
                    <a:pt x="409448" y="3225800"/>
                  </a:lnTo>
                  <a:lnTo>
                    <a:pt x="0" y="3225800"/>
                  </a:lnTo>
                  <a:close/>
                </a:path>
              </a:pathLst>
            </a:custGeom>
            <a:solidFill>
              <a:srgbClr val="A9C8D1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3473303" y="5175123"/>
            <a:ext cx="307086" cy="3064002"/>
            <a:chOff x="0" y="0"/>
            <a:chExt cx="409448" cy="408533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09448" cy="4085336"/>
            </a:xfrm>
            <a:custGeom>
              <a:avLst/>
              <a:gdLst/>
              <a:ahLst/>
              <a:cxnLst/>
              <a:rect r="r" b="b" t="t" l="l"/>
              <a:pathLst>
                <a:path h="4085336" w="409448">
                  <a:moveTo>
                    <a:pt x="0" y="0"/>
                  </a:moveTo>
                  <a:lnTo>
                    <a:pt x="409448" y="0"/>
                  </a:lnTo>
                  <a:lnTo>
                    <a:pt x="409448" y="4085336"/>
                  </a:lnTo>
                  <a:lnTo>
                    <a:pt x="0" y="4085336"/>
                  </a:lnTo>
                  <a:close/>
                </a:path>
              </a:pathLst>
            </a:custGeom>
            <a:solidFill>
              <a:srgbClr val="177E89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3857351" y="5476875"/>
            <a:ext cx="307086" cy="2762250"/>
            <a:chOff x="0" y="0"/>
            <a:chExt cx="409448" cy="36830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09448" cy="3683000"/>
            </a:xfrm>
            <a:custGeom>
              <a:avLst/>
              <a:gdLst/>
              <a:ahLst/>
              <a:cxnLst/>
              <a:rect r="r" b="b" t="t" l="l"/>
              <a:pathLst>
                <a:path h="3683000" w="409448">
                  <a:moveTo>
                    <a:pt x="0" y="0"/>
                  </a:moveTo>
                  <a:lnTo>
                    <a:pt x="409448" y="0"/>
                  </a:lnTo>
                  <a:lnTo>
                    <a:pt x="409448" y="3683000"/>
                  </a:lnTo>
                  <a:lnTo>
                    <a:pt x="0" y="3683000"/>
                  </a:lnTo>
                  <a:close/>
                </a:path>
              </a:pathLst>
            </a:custGeom>
            <a:solidFill>
              <a:srgbClr val="177E89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4241399" y="5641467"/>
            <a:ext cx="307086" cy="2597658"/>
            <a:chOff x="0" y="0"/>
            <a:chExt cx="409448" cy="346354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09448" cy="3463544"/>
            </a:xfrm>
            <a:custGeom>
              <a:avLst/>
              <a:gdLst/>
              <a:ahLst/>
              <a:cxnLst/>
              <a:rect r="r" b="b" t="t" l="l"/>
              <a:pathLst>
                <a:path h="3463544" w="409448">
                  <a:moveTo>
                    <a:pt x="0" y="0"/>
                  </a:moveTo>
                  <a:lnTo>
                    <a:pt x="409448" y="0"/>
                  </a:lnTo>
                  <a:lnTo>
                    <a:pt x="409448" y="3463544"/>
                  </a:lnTo>
                  <a:lnTo>
                    <a:pt x="0" y="3463544"/>
                  </a:lnTo>
                  <a:close/>
                </a:path>
              </a:pathLst>
            </a:custGeom>
            <a:solidFill>
              <a:srgbClr val="177E89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4625447" y="5271135"/>
            <a:ext cx="307086" cy="2967990"/>
            <a:chOff x="0" y="0"/>
            <a:chExt cx="409448" cy="395732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09448" cy="3957320"/>
            </a:xfrm>
            <a:custGeom>
              <a:avLst/>
              <a:gdLst/>
              <a:ahLst/>
              <a:cxnLst/>
              <a:rect r="r" b="b" t="t" l="l"/>
              <a:pathLst>
                <a:path h="3957320" w="409448">
                  <a:moveTo>
                    <a:pt x="0" y="0"/>
                  </a:moveTo>
                  <a:lnTo>
                    <a:pt x="409448" y="0"/>
                  </a:lnTo>
                  <a:lnTo>
                    <a:pt x="409448" y="3957320"/>
                  </a:lnTo>
                  <a:lnTo>
                    <a:pt x="0" y="3957320"/>
                  </a:lnTo>
                  <a:close/>
                </a:path>
              </a:pathLst>
            </a:custGeom>
            <a:solidFill>
              <a:srgbClr val="177E89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5009495" y="4859655"/>
            <a:ext cx="307086" cy="3379470"/>
            <a:chOff x="0" y="0"/>
            <a:chExt cx="409448" cy="450596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09448" cy="4505960"/>
            </a:xfrm>
            <a:custGeom>
              <a:avLst/>
              <a:gdLst/>
              <a:ahLst/>
              <a:cxnLst/>
              <a:rect r="r" b="b" t="t" l="l"/>
              <a:pathLst>
                <a:path h="4505960" w="409448">
                  <a:moveTo>
                    <a:pt x="0" y="0"/>
                  </a:moveTo>
                  <a:lnTo>
                    <a:pt x="409448" y="0"/>
                  </a:lnTo>
                  <a:lnTo>
                    <a:pt x="409448" y="4505960"/>
                  </a:lnTo>
                  <a:lnTo>
                    <a:pt x="0" y="4505960"/>
                  </a:lnTo>
                  <a:close/>
                </a:path>
              </a:pathLst>
            </a:custGeom>
            <a:solidFill>
              <a:srgbClr val="177E89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9162288" y="8298180"/>
            <a:ext cx="274320" cy="274320"/>
            <a:chOff x="0" y="0"/>
            <a:chExt cx="365760" cy="36576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0"/>
              <a:ext cx="36576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6B7280"/>
                  </a:solidFill>
                  <a:latin typeface="Aptos"/>
                  <a:ea typeface="Aptos"/>
                  <a:cs typeface="Aptos"/>
                  <a:sym typeface="Aptos"/>
                </a:rPr>
                <a:t>1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5156180" y="8298180"/>
            <a:ext cx="274320" cy="274320"/>
            <a:chOff x="0" y="0"/>
            <a:chExt cx="365760" cy="36576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0"/>
              <a:ext cx="36576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6B7280"/>
                  </a:solidFill>
                  <a:latin typeface="Aptos"/>
                  <a:ea typeface="Aptos"/>
                  <a:cs typeface="Aptos"/>
                  <a:sym typeface="Aptos"/>
                </a:rPr>
                <a:t>5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1315700" y="8709660"/>
            <a:ext cx="3154680" cy="274320"/>
            <a:chOff x="0" y="0"/>
            <a:chExt cx="4206240" cy="36576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206240" cy="365760"/>
            </a:xfrm>
            <a:custGeom>
              <a:avLst/>
              <a:gdLst/>
              <a:ahLst/>
              <a:cxnLst/>
              <a:rect r="r" b="b" t="t" l="l"/>
              <a:pathLst>
                <a:path h="36576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9525"/>
              <a:ext cx="420624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Aptos"/>
                  <a:ea typeface="Aptos"/>
                  <a:cs typeface="Aptos"/>
                  <a:sym typeface="Aptos"/>
                </a:rPr>
                <a:t>Engagement score</a:t>
              </a:r>
            </a:p>
          </p:txBody>
        </p:sp>
      </p:grpSp>
      <p:sp>
        <p:nvSpPr>
          <p:cNvPr name="TextBox 103" id="103"/>
          <p:cNvSpPr txBox="true"/>
          <p:nvPr/>
        </p:nvSpPr>
        <p:spPr>
          <a:xfrm rot="0">
            <a:off x="17675352" y="9811512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238506"/>
            <a:chOff x="0" y="0"/>
            <a:chExt cx="24408790" cy="3180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318008"/>
            </a:xfrm>
            <a:custGeom>
              <a:avLst/>
              <a:gdLst/>
              <a:ahLst/>
              <a:cxnLst/>
              <a:rect r="r" b="b" t="t" l="l"/>
              <a:pathLst>
                <a:path h="318008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318008"/>
                  </a:lnTo>
                  <a:lnTo>
                    <a:pt x="0" y="318008"/>
                  </a:lnTo>
                  <a:close/>
                </a:path>
              </a:pathLst>
            </a:custGeom>
            <a:solidFill>
              <a:srgbClr val="15324B"/>
            </a:solidFill>
            <a:ln w="19050" cap="sq">
              <a:solidFill>
                <a:srgbClr val="15324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9793224"/>
            <a:ext cx="12070080" cy="246888"/>
            <a:chOff x="0" y="0"/>
            <a:chExt cx="16093440" cy="3291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093439" cy="329184"/>
            </a:xfrm>
            <a:custGeom>
              <a:avLst/>
              <a:gdLst/>
              <a:ahLst/>
              <a:cxnLst/>
              <a:rect r="r" b="b" t="t" l="l"/>
              <a:pathLst>
                <a:path h="329184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601" r="0" b="-90260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609344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6B7280"/>
                  </a:solidFill>
                  <a:latin typeface="Aptos"/>
                  <a:ea typeface="Aptos"/>
                  <a:cs typeface="Aptos"/>
                  <a:sym typeface="Aptos"/>
                </a:rPr>
                <a:t>2024 OPM Federal Employee Viewpoint Survey • People Analytics Case Study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950440" y="9793224"/>
            <a:ext cx="2537460" cy="246888"/>
            <a:chOff x="0" y="0"/>
            <a:chExt cx="3383280" cy="3291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83280" cy="329184"/>
            </a:xfrm>
            <a:custGeom>
              <a:avLst/>
              <a:gdLst/>
              <a:ahLst/>
              <a:cxnLst/>
              <a:rect r="r" b="b" t="t" l="l"/>
              <a:pathLst>
                <a:path h="329184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262" r="0" b="-15026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38328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B7280"/>
                  </a:solidFill>
                  <a:latin typeface="Aptos"/>
                  <a:ea typeface="Aptos"/>
                  <a:cs typeface="Aptos"/>
                  <a:sym typeface="Aptos"/>
                </a:rPr>
                <a:t>Vanessa Gray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0392" y="658368"/>
            <a:ext cx="5212080" cy="392069"/>
            <a:chOff x="0" y="0"/>
            <a:chExt cx="6949440" cy="5227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49440" cy="522758"/>
            </a:xfrm>
            <a:custGeom>
              <a:avLst/>
              <a:gdLst/>
              <a:ahLst/>
              <a:cxnLst/>
              <a:rect r="r" b="b" t="t" l="l"/>
              <a:pathLst>
                <a:path h="52275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522758"/>
                  </a:lnTo>
                  <a:lnTo>
                    <a:pt x="0" y="5227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548" r="0" b="-19751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6949440" cy="5322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b="true" sz="2099" spc="251">
                  <a:solidFill>
                    <a:srgbClr val="177E8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THE PATTERN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0392" y="1069848"/>
            <a:ext cx="16459200" cy="1452372"/>
            <a:chOff x="0" y="0"/>
            <a:chExt cx="21945600" cy="19364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936496"/>
            </a:xfrm>
            <a:custGeom>
              <a:avLst/>
              <a:gdLst/>
              <a:ahLst/>
              <a:cxnLst/>
              <a:rect r="r" b="b" t="t" l="l"/>
              <a:pathLst>
                <a:path h="193649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36496"/>
                  </a:lnTo>
                  <a:lnTo>
                    <a:pt x="0" y="19364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985" r="0" b="-15764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1945600" cy="19364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532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 strong overall average still hides meaningful differences across organizations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82015" y="2286000"/>
            <a:ext cx="16047720" cy="617220"/>
            <a:chOff x="0" y="0"/>
            <a:chExt cx="21396960" cy="8229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822960"/>
            </a:xfrm>
            <a:custGeom>
              <a:avLst/>
              <a:gdLst/>
              <a:ahLst/>
              <a:cxnLst/>
              <a:rect r="r" b="b" t="t" l="l"/>
              <a:pathLst>
                <a:path h="8229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6610" r="0" b="-45661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B7280"/>
                  </a:solidFill>
                  <a:latin typeface="Aptos"/>
                  <a:ea typeface="Aptos"/>
                  <a:cs typeface="Aptos"/>
                  <a:sym typeface="Aptos"/>
                </a:rPr>
                <a:t>Agency-level engagement averages ranged from roughly 3.78 to 4.43 in the initial comparison.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82015" y="3007995"/>
            <a:ext cx="5779770" cy="5436870"/>
            <a:chOff x="0" y="0"/>
            <a:chExt cx="7706360" cy="72491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706360" cy="7249160"/>
            </a:xfrm>
            <a:custGeom>
              <a:avLst/>
              <a:gdLst/>
              <a:ahLst/>
              <a:cxnLst/>
              <a:rect r="r" b="b" t="t" l="l"/>
              <a:pathLst>
                <a:path h="7249160" w="7706360">
                  <a:moveTo>
                    <a:pt x="0" y="1208278"/>
                  </a:moveTo>
                  <a:cubicBezTo>
                    <a:pt x="0" y="540893"/>
                    <a:pt x="540893" y="0"/>
                    <a:pt x="1208278" y="0"/>
                  </a:cubicBezTo>
                  <a:lnTo>
                    <a:pt x="6498082" y="0"/>
                  </a:lnTo>
                  <a:cubicBezTo>
                    <a:pt x="7165340" y="0"/>
                    <a:pt x="7706360" y="540893"/>
                    <a:pt x="7706360" y="1208278"/>
                  </a:cubicBezTo>
                  <a:lnTo>
                    <a:pt x="7706360" y="6040882"/>
                  </a:lnTo>
                  <a:cubicBezTo>
                    <a:pt x="7706360" y="6708140"/>
                    <a:pt x="7165467" y="7249160"/>
                    <a:pt x="6498082" y="7249160"/>
                  </a:cubicBezTo>
                  <a:lnTo>
                    <a:pt x="1208278" y="7249160"/>
                  </a:lnTo>
                  <a:cubicBezTo>
                    <a:pt x="540893" y="7249160"/>
                    <a:pt x="0" y="6708267"/>
                    <a:pt x="0" y="6040882"/>
                  </a:cubicBezTo>
                  <a:close/>
                </a:path>
              </a:pathLst>
            </a:custGeom>
            <a:solidFill>
              <a:srgbClr val="15324B"/>
            </a:solidFill>
            <a:ln w="19050" cap="sq">
              <a:solidFill>
                <a:srgbClr val="15324B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371600" y="3703320"/>
            <a:ext cx="4800600" cy="960120"/>
            <a:chOff x="0" y="0"/>
            <a:chExt cx="6400800" cy="12801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400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640080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0.65 points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40180" y="4869180"/>
            <a:ext cx="4663440" cy="1069848"/>
            <a:chOff x="0" y="0"/>
            <a:chExt cx="6217920" cy="14264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17920" cy="1426464"/>
            </a:xfrm>
            <a:custGeom>
              <a:avLst/>
              <a:gdLst/>
              <a:ahLst/>
              <a:cxnLst/>
              <a:rect r="r" b="b" t="t" l="l"/>
              <a:pathLst>
                <a:path h="1426464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934" r="0" b="-3493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6217920" cy="14359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E8F0F5"/>
                  </a:solidFill>
                  <a:latin typeface="Aptos"/>
                  <a:ea typeface="Aptos"/>
                  <a:cs typeface="Aptos"/>
                  <a:sym typeface="Aptos"/>
                </a:rPr>
                <a:t>separated the lowest and highest observed agency averages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 rot="63540">
            <a:off x="1607468" y="6633210"/>
            <a:ext cx="4123125" cy="0"/>
          </a:xfrm>
          <a:prstGeom prst="line">
            <a:avLst/>
          </a:prstGeom>
          <a:ln cap="rnd" w="38100">
            <a:solidFill>
              <a:srgbClr val="E4B36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8" id="28"/>
          <p:cNvGrpSpPr/>
          <p:nvPr/>
        </p:nvGrpSpPr>
        <p:grpSpPr>
          <a:xfrm rot="0">
            <a:off x="1303020" y="6967728"/>
            <a:ext cx="1097280" cy="411480"/>
            <a:chOff x="0" y="0"/>
            <a:chExt cx="146304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304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3.78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937760" y="6967728"/>
            <a:ext cx="1097280" cy="411480"/>
            <a:chOff x="0" y="0"/>
            <a:chExt cx="1463040" cy="548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146304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4.43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338060" y="3195828"/>
            <a:ext cx="3566160" cy="411480"/>
            <a:chOff x="0" y="0"/>
            <a:chExt cx="4754880" cy="548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77E8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Why this matters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338060" y="3730752"/>
            <a:ext cx="9121140" cy="987552"/>
            <a:chOff x="0" y="0"/>
            <a:chExt cx="12161520" cy="131673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1615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2161520">
                  <a:moveTo>
                    <a:pt x="0" y="0"/>
                  </a:moveTo>
                  <a:lnTo>
                    <a:pt x="12161520" y="0"/>
                  </a:lnTo>
                  <a:lnTo>
                    <a:pt x="121615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965" r="0" b="-12996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1216152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0"/>
                </a:lnSpc>
              </a:pPr>
              <a:r>
                <a:rPr lang="en-US" sz="3450" b="true">
                  <a:solidFill>
                    <a:srgbClr val="1532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The same workforce-wide average can mask very different employee experiences.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328535" y="5024247"/>
            <a:ext cx="320802" cy="320802"/>
            <a:chOff x="0" y="0"/>
            <a:chExt cx="427736" cy="42773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27736" cy="427736"/>
            </a:xfrm>
            <a:custGeom>
              <a:avLst/>
              <a:gdLst/>
              <a:ahLst/>
              <a:cxnLst/>
              <a:rect r="r" b="b" t="t" l="l"/>
              <a:pathLst>
                <a:path h="427736" w="427736">
                  <a:moveTo>
                    <a:pt x="0" y="213868"/>
                  </a:moveTo>
                  <a:cubicBezTo>
                    <a:pt x="0" y="95758"/>
                    <a:pt x="95758" y="0"/>
                    <a:pt x="213868" y="0"/>
                  </a:cubicBezTo>
                  <a:cubicBezTo>
                    <a:pt x="331978" y="0"/>
                    <a:pt x="427736" y="95758"/>
                    <a:pt x="427736" y="213868"/>
                  </a:cubicBezTo>
                  <a:cubicBezTo>
                    <a:pt x="427736" y="331978"/>
                    <a:pt x="331978" y="427736"/>
                    <a:pt x="213868" y="427736"/>
                  </a:cubicBezTo>
                  <a:cubicBezTo>
                    <a:pt x="95758" y="427736"/>
                    <a:pt x="0" y="331978"/>
                    <a:pt x="0" y="213868"/>
                  </a:cubicBezTo>
                  <a:close/>
                </a:path>
              </a:pathLst>
            </a:custGeom>
            <a:solidFill>
              <a:srgbClr val="177E89"/>
            </a:solidFill>
            <a:ln w="19050" cap="sq">
              <a:solidFill>
                <a:srgbClr val="177E89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7845552" y="5006340"/>
            <a:ext cx="3154680" cy="342900"/>
            <a:chOff x="0" y="0"/>
            <a:chExt cx="4206240" cy="457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206240" cy="457200"/>
            </a:xfrm>
            <a:custGeom>
              <a:avLst/>
              <a:gdLst/>
              <a:ahLst/>
              <a:cxnLst/>
              <a:rect r="r" b="b" t="t" l="l"/>
              <a:pathLst>
                <a:path h="4572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262" r="0" b="-12926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420624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Variation is actionable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355580" y="4978908"/>
            <a:ext cx="6377940" cy="768096"/>
            <a:chOff x="0" y="0"/>
            <a:chExt cx="8503920" cy="102412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503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1795" r="0" b="-11179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8503920" cy="1033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>
                  <a:solidFill>
                    <a:srgbClr val="6B7280"/>
                  </a:solidFill>
                  <a:latin typeface="Aptos"/>
                  <a:ea typeface="Aptos"/>
                  <a:cs typeface="Aptos"/>
                  <a:sym typeface="Aptos"/>
                </a:rPr>
                <a:t>Agency differences suggest local context matters — leadership, work design and climate may not be experienced the same way everywhere.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328535" y="6162675"/>
            <a:ext cx="320802" cy="320802"/>
            <a:chOff x="0" y="0"/>
            <a:chExt cx="427736" cy="42773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27736" cy="427736"/>
            </a:xfrm>
            <a:custGeom>
              <a:avLst/>
              <a:gdLst/>
              <a:ahLst/>
              <a:cxnLst/>
              <a:rect r="r" b="b" t="t" l="l"/>
              <a:pathLst>
                <a:path h="427736" w="427736">
                  <a:moveTo>
                    <a:pt x="0" y="213868"/>
                  </a:moveTo>
                  <a:cubicBezTo>
                    <a:pt x="0" y="95758"/>
                    <a:pt x="95758" y="0"/>
                    <a:pt x="213868" y="0"/>
                  </a:cubicBezTo>
                  <a:cubicBezTo>
                    <a:pt x="331978" y="0"/>
                    <a:pt x="427736" y="95758"/>
                    <a:pt x="427736" y="213868"/>
                  </a:cubicBezTo>
                  <a:cubicBezTo>
                    <a:pt x="427736" y="331978"/>
                    <a:pt x="331978" y="427736"/>
                    <a:pt x="213868" y="427736"/>
                  </a:cubicBezTo>
                  <a:cubicBezTo>
                    <a:pt x="95758" y="427736"/>
                    <a:pt x="0" y="331978"/>
                    <a:pt x="0" y="213868"/>
                  </a:cubicBezTo>
                  <a:close/>
                </a:path>
              </a:pathLst>
            </a:custGeom>
            <a:solidFill>
              <a:srgbClr val="177E89"/>
            </a:solidFill>
            <a:ln w="19050" cap="sq">
              <a:solidFill>
                <a:srgbClr val="177E89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7845552" y="6144768"/>
            <a:ext cx="3154680" cy="342900"/>
            <a:chOff x="0" y="0"/>
            <a:chExt cx="4206240" cy="4572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206240" cy="457200"/>
            </a:xfrm>
            <a:custGeom>
              <a:avLst/>
              <a:gdLst/>
              <a:ahLst/>
              <a:cxnLst/>
              <a:rect r="r" b="b" t="t" l="l"/>
              <a:pathLst>
                <a:path h="4572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262" r="0" b="-12926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420624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Sample size matters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355580" y="6117336"/>
            <a:ext cx="6377940" cy="768096"/>
            <a:chOff x="0" y="0"/>
            <a:chExt cx="8503920" cy="102412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503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1795" r="0" b="-11179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8503920" cy="1033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>
                  <a:solidFill>
                    <a:srgbClr val="6B7280"/>
                  </a:solidFill>
                  <a:latin typeface="Aptos"/>
                  <a:ea typeface="Aptos"/>
                  <a:cs typeface="Aptos"/>
                  <a:sym typeface="Aptos"/>
                </a:rPr>
                <a:t>Small agencies should not be ranked against large agencies without a minimum-response threshold or uncertainty checks.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328535" y="7301103"/>
            <a:ext cx="320802" cy="320802"/>
            <a:chOff x="0" y="0"/>
            <a:chExt cx="427736" cy="42773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27736" cy="427736"/>
            </a:xfrm>
            <a:custGeom>
              <a:avLst/>
              <a:gdLst/>
              <a:ahLst/>
              <a:cxnLst/>
              <a:rect r="r" b="b" t="t" l="l"/>
              <a:pathLst>
                <a:path h="427736" w="427736">
                  <a:moveTo>
                    <a:pt x="0" y="213868"/>
                  </a:moveTo>
                  <a:cubicBezTo>
                    <a:pt x="0" y="95758"/>
                    <a:pt x="95758" y="0"/>
                    <a:pt x="213868" y="0"/>
                  </a:cubicBezTo>
                  <a:cubicBezTo>
                    <a:pt x="331978" y="0"/>
                    <a:pt x="427736" y="95758"/>
                    <a:pt x="427736" y="213868"/>
                  </a:cubicBezTo>
                  <a:cubicBezTo>
                    <a:pt x="427736" y="331978"/>
                    <a:pt x="331978" y="427736"/>
                    <a:pt x="213868" y="427736"/>
                  </a:cubicBezTo>
                  <a:cubicBezTo>
                    <a:pt x="95758" y="427736"/>
                    <a:pt x="0" y="331978"/>
                    <a:pt x="0" y="213868"/>
                  </a:cubicBezTo>
                  <a:close/>
                </a:path>
              </a:pathLst>
            </a:custGeom>
            <a:solidFill>
              <a:srgbClr val="E4B363"/>
            </a:solidFill>
            <a:ln w="19050" cap="sq">
              <a:solidFill>
                <a:srgbClr val="E4B363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7845552" y="7283196"/>
            <a:ext cx="3154680" cy="342900"/>
            <a:chOff x="0" y="0"/>
            <a:chExt cx="4206240" cy="4572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206240" cy="457200"/>
            </a:xfrm>
            <a:custGeom>
              <a:avLst/>
              <a:gdLst/>
              <a:ahLst/>
              <a:cxnLst/>
              <a:rect r="r" b="b" t="t" l="l"/>
              <a:pathLst>
                <a:path h="4572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262" r="0" b="-129262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420624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Next question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355580" y="7255764"/>
            <a:ext cx="6377940" cy="768096"/>
            <a:chOff x="0" y="0"/>
            <a:chExt cx="8503920" cy="102412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503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1795" r="0" b="-11179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8503920" cy="1033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>
                  <a:solidFill>
                    <a:srgbClr val="6B7280"/>
                  </a:solidFill>
                  <a:latin typeface="Aptos"/>
                  <a:ea typeface="Aptos"/>
                  <a:cs typeface="Aptos"/>
                  <a:sym typeface="Aptos"/>
                </a:rPr>
                <a:t>Instead of asking only “who scores highest?”, ask what parts of the employee experience move with satisfaction.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17675352" y="9811512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238506"/>
            <a:chOff x="0" y="0"/>
            <a:chExt cx="24408790" cy="3180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318008"/>
            </a:xfrm>
            <a:custGeom>
              <a:avLst/>
              <a:gdLst/>
              <a:ahLst/>
              <a:cxnLst/>
              <a:rect r="r" b="b" t="t" l="l"/>
              <a:pathLst>
                <a:path h="318008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318008"/>
                  </a:lnTo>
                  <a:lnTo>
                    <a:pt x="0" y="318008"/>
                  </a:lnTo>
                  <a:close/>
                </a:path>
              </a:pathLst>
            </a:custGeom>
            <a:solidFill>
              <a:srgbClr val="15324B"/>
            </a:solidFill>
            <a:ln w="19050" cap="sq">
              <a:solidFill>
                <a:srgbClr val="15324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9793224"/>
            <a:ext cx="12070080" cy="246888"/>
            <a:chOff x="0" y="0"/>
            <a:chExt cx="16093440" cy="3291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093439" cy="329184"/>
            </a:xfrm>
            <a:custGeom>
              <a:avLst/>
              <a:gdLst/>
              <a:ahLst/>
              <a:cxnLst/>
              <a:rect r="r" b="b" t="t" l="l"/>
              <a:pathLst>
                <a:path h="329184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601" r="0" b="-90260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609344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6B7280"/>
                  </a:solidFill>
                  <a:latin typeface="Aptos"/>
                  <a:ea typeface="Aptos"/>
                  <a:cs typeface="Aptos"/>
                  <a:sym typeface="Aptos"/>
                </a:rPr>
                <a:t>2024 OPM Federal Employee Viewpoint Survey • People Analytics Case Study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950440" y="9793224"/>
            <a:ext cx="2537460" cy="246888"/>
            <a:chOff x="0" y="0"/>
            <a:chExt cx="3383280" cy="3291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83280" cy="329184"/>
            </a:xfrm>
            <a:custGeom>
              <a:avLst/>
              <a:gdLst/>
              <a:ahLst/>
              <a:cxnLst/>
              <a:rect r="r" b="b" t="t" l="l"/>
              <a:pathLst>
                <a:path h="329184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262" r="0" b="-15026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38328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B7280"/>
                  </a:solidFill>
                  <a:latin typeface="Aptos"/>
                  <a:ea typeface="Aptos"/>
                  <a:cs typeface="Aptos"/>
                  <a:sym typeface="Aptos"/>
                </a:rPr>
                <a:t>Vanessa Gray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7824" y="636631"/>
            <a:ext cx="5212080" cy="392069"/>
            <a:chOff x="0" y="0"/>
            <a:chExt cx="6949440" cy="5227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49440" cy="522758"/>
            </a:xfrm>
            <a:custGeom>
              <a:avLst/>
              <a:gdLst/>
              <a:ahLst/>
              <a:cxnLst/>
              <a:rect r="r" b="b" t="t" l="l"/>
              <a:pathLst>
                <a:path h="52275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522758"/>
                  </a:lnTo>
                  <a:lnTo>
                    <a:pt x="0" y="5227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548" r="0" b="-19751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6949440" cy="5322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b="true" sz="2099" spc="251">
                  <a:solidFill>
                    <a:srgbClr val="177E8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THE FINDING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8980" y="826069"/>
            <a:ext cx="17842078" cy="1354394"/>
            <a:chOff x="0" y="0"/>
            <a:chExt cx="25195852" cy="19126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195853" cy="1912620"/>
            </a:xfrm>
            <a:custGeom>
              <a:avLst/>
              <a:gdLst/>
              <a:ahLst/>
              <a:cxnLst/>
              <a:rect r="r" b="b" t="t" l="l"/>
              <a:pathLst>
                <a:path h="1912620" w="25195853">
                  <a:moveTo>
                    <a:pt x="0" y="0"/>
                  </a:moveTo>
                  <a:lnTo>
                    <a:pt x="25195853" y="0"/>
                  </a:lnTo>
                  <a:lnTo>
                    <a:pt x="25195853" y="1912620"/>
                  </a:lnTo>
                  <a:lnTo>
                    <a:pt x="0" y="19126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6282" r="12899" b="-16086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5195852" cy="1912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1532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Satisfaction is most closely tied to how employees view senior leadership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77824" y="2139696"/>
            <a:ext cx="16047720" cy="617220"/>
            <a:chOff x="0" y="0"/>
            <a:chExt cx="21396960" cy="8229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822960"/>
            </a:xfrm>
            <a:custGeom>
              <a:avLst/>
              <a:gdLst/>
              <a:ahLst/>
              <a:cxnLst/>
              <a:rect r="r" b="b" t="t" l="l"/>
              <a:pathLst>
                <a:path h="8229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6610" r="0" b="-45661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B7280"/>
                  </a:solidFill>
                  <a:latin typeface="Aptos"/>
                  <a:ea typeface="Aptos"/>
                  <a:cs typeface="Aptos"/>
                  <a:sym typeface="Aptos"/>
                </a:rPr>
                <a:t>A multiple regression separated the independent association of three engagement dimensions with overall satisfaction.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69848" y="3264408"/>
            <a:ext cx="3086100" cy="480060"/>
            <a:chOff x="0" y="0"/>
            <a:chExt cx="4114800" cy="640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114800" cy="640080"/>
            </a:xfrm>
            <a:custGeom>
              <a:avLst/>
              <a:gdLst/>
              <a:ahLst/>
              <a:cxnLst/>
              <a:rect r="r" b="b" t="t" l="l"/>
              <a:pathLst>
                <a:path h="64008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411480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50"/>
                </a:lnSpc>
              </a:pPr>
              <a:r>
                <a:rPr lang="en-US" sz="1875" b="true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Senior leadership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407027" y="3282315"/>
            <a:ext cx="7172630" cy="649986"/>
            <a:chOff x="0" y="0"/>
            <a:chExt cx="9563506" cy="86664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563481" cy="866648"/>
            </a:xfrm>
            <a:custGeom>
              <a:avLst/>
              <a:gdLst/>
              <a:ahLst/>
              <a:cxnLst/>
              <a:rect r="r" b="b" t="t" l="l"/>
              <a:pathLst>
                <a:path h="866648" w="9563481">
                  <a:moveTo>
                    <a:pt x="0" y="144399"/>
                  </a:moveTo>
                  <a:cubicBezTo>
                    <a:pt x="0" y="64643"/>
                    <a:pt x="64643" y="0"/>
                    <a:pt x="144399" y="0"/>
                  </a:cubicBezTo>
                  <a:lnTo>
                    <a:pt x="9419082" y="0"/>
                  </a:lnTo>
                  <a:cubicBezTo>
                    <a:pt x="9498838" y="0"/>
                    <a:pt x="9563481" y="64643"/>
                    <a:pt x="9563481" y="144399"/>
                  </a:cubicBezTo>
                  <a:lnTo>
                    <a:pt x="9563481" y="722249"/>
                  </a:lnTo>
                  <a:cubicBezTo>
                    <a:pt x="9563481" y="802005"/>
                    <a:pt x="9498838" y="866648"/>
                    <a:pt x="9419082" y="866648"/>
                  </a:cubicBezTo>
                  <a:lnTo>
                    <a:pt x="144399" y="866648"/>
                  </a:lnTo>
                  <a:cubicBezTo>
                    <a:pt x="64643" y="866648"/>
                    <a:pt x="0" y="802005"/>
                    <a:pt x="0" y="722249"/>
                  </a:cubicBezTo>
                  <a:close/>
                </a:path>
              </a:pathLst>
            </a:custGeom>
            <a:solidFill>
              <a:srgbClr val="177E89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652428" y="3332988"/>
            <a:ext cx="1028700" cy="411480"/>
            <a:chOff x="0" y="0"/>
            <a:chExt cx="1371600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7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3716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0.549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69848" y="4663440"/>
            <a:ext cx="3086100" cy="480060"/>
            <a:chOff x="0" y="0"/>
            <a:chExt cx="4114800" cy="6400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114800" cy="640080"/>
            </a:xfrm>
            <a:custGeom>
              <a:avLst/>
              <a:gdLst/>
              <a:ahLst/>
              <a:cxnLst/>
              <a:rect r="r" b="b" t="t" l="l"/>
              <a:pathLst>
                <a:path h="64008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411480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50"/>
                </a:lnSpc>
              </a:pPr>
              <a:r>
                <a:rPr lang="en-US" sz="1875" b="true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Intrinsic work experience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407027" y="4681347"/>
            <a:ext cx="5270221" cy="649986"/>
            <a:chOff x="0" y="0"/>
            <a:chExt cx="7026961" cy="86664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026910" cy="866648"/>
            </a:xfrm>
            <a:custGeom>
              <a:avLst/>
              <a:gdLst/>
              <a:ahLst/>
              <a:cxnLst/>
              <a:rect r="r" b="b" t="t" l="l"/>
              <a:pathLst>
                <a:path h="866648" w="7026910">
                  <a:moveTo>
                    <a:pt x="0" y="144399"/>
                  </a:moveTo>
                  <a:cubicBezTo>
                    <a:pt x="0" y="64643"/>
                    <a:pt x="64643" y="0"/>
                    <a:pt x="144399" y="0"/>
                  </a:cubicBezTo>
                  <a:lnTo>
                    <a:pt x="6882511" y="0"/>
                  </a:lnTo>
                  <a:cubicBezTo>
                    <a:pt x="6962267" y="0"/>
                    <a:pt x="7026910" y="64643"/>
                    <a:pt x="7026910" y="144399"/>
                  </a:cubicBezTo>
                  <a:lnTo>
                    <a:pt x="7026910" y="722249"/>
                  </a:lnTo>
                  <a:cubicBezTo>
                    <a:pt x="7026910" y="802005"/>
                    <a:pt x="6962267" y="866648"/>
                    <a:pt x="6882511" y="866648"/>
                  </a:cubicBezTo>
                  <a:lnTo>
                    <a:pt x="144399" y="866648"/>
                  </a:lnTo>
                  <a:cubicBezTo>
                    <a:pt x="64643" y="866648"/>
                    <a:pt x="0" y="802005"/>
                    <a:pt x="0" y="722249"/>
                  </a:cubicBezTo>
                  <a:close/>
                </a:path>
              </a:pathLst>
            </a:custGeom>
            <a:solidFill>
              <a:srgbClr val="15324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750019" y="4732020"/>
            <a:ext cx="1028700" cy="411480"/>
            <a:chOff x="0" y="0"/>
            <a:chExt cx="137160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7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13716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0.403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69848" y="6062472"/>
            <a:ext cx="3086100" cy="480060"/>
            <a:chOff x="0" y="0"/>
            <a:chExt cx="4114800" cy="640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114800" cy="640080"/>
            </a:xfrm>
            <a:custGeom>
              <a:avLst/>
              <a:gdLst/>
              <a:ahLst/>
              <a:cxnLst/>
              <a:rect r="r" b="b" t="t" l="l"/>
              <a:pathLst>
                <a:path h="64008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411480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50"/>
                </a:lnSpc>
              </a:pPr>
              <a:r>
                <a:rPr lang="en-US" sz="1875" b="true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Immediate supervisor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407027" y="6080379"/>
            <a:ext cx="1191768" cy="649986"/>
            <a:chOff x="0" y="0"/>
            <a:chExt cx="1589024" cy="86664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89024" cy="866648"/>
            </a:xfrm>
            <a:custGeom>
              <a:avLst/>
              <a:gdLst/>
              <a:ahLst/>
              <a:cxnLst/>
              <a:rect r="r" b="b" t="t" l="l"/>
              <a:pathLst>
                <a:path h="866648" w="1589024">
                  <a:moveTo>
                    <a:pt x="0" y="144399"/>
                  </a:moveTo>
                  <a:cubicBezTo>
                    <a:pt x="0" y="64643"/>
                    <a:pt x="64643" y="0"/>
                    <a:pt x="144399" y="0"/>
                  </a:cubicBezTo>
                  <a:lnTo>
                    <a:pt x="1444625" y="0"/>
                  </a:lnTo>
                  <a:cubicBezTo>
                    <a:pt x="1524381" y="0"/>
                    <a:pt x="1589024" y="64643"/>
                    <a:pt x="1589024" y="144399"/>
                  </a:cubicBezTo>
                  <a:lnTo>
                    <a:pt x="1589024" y="722249"/>
                  </a:lnTo>
                  <a:cubicBezTo>
                    <a:pt x="1589024" y="802005"/>
                    <a:pt x="1524381" y="866648"/>
                    <a:pt x="1444625" y="866648"/>
                  </a:cubicBezTo>
                  <a:lnTo>
                    <a:pt x="144399" y="866648"/>
                  </a:lnTo>
                  <a:cubicBezTo>
                    <a:pt x="64643" y="866648"/>
                    <a:pt x="0" y="802005"/>
                    <a:pt x="0" y="722249"/>
                  </a:cubicBezTo>
                  <a:close/>
                </a:path>
              </a:pathLst>
            </a:custGeom>
            <a:solidFill>
              <a:srgbClr val="A9C8D1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671566" y="6131052"/>
            <a:ext cx="1028700" cy="411480"/>
            <a:chOff x="0" y="0"/>
            <a:chExt cx="1371600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7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13716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0.090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4389120" y="7626096"/>
            <a:ext cx="7818120" cy="342900"/>
            <a:chOff x="0" y="0"/>
            <a:chExt cx="10424160" cy="457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424160" cy="457200"/>
            </a:xfrm>
            <a:custGeom>
              <a:avLst/>
              <a:gdLst/>
              <a:ahLst/>
              <a:cxnLst/>
              <a:rect r="r" b="b" t="t" l="l"/>
              <a:pathLst>
                <a:path h="45720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4258" r="0" b="-39425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1042416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6B7280"/>
                  </a:solidFill>
                  <a:latin typeface="Aptos"/>
                  <a:ea typeface="Aptos"/>
                  <a:cs typeface="Aptos"/>
                  <a:sym typeface="Aptos"/>
                </a:rPr>
                <a:t>Unstandardized regression coefficient (B)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952095" y="2980563"/>
            <a:ext cx="4065270" cy="4888230"/>
            <a:chOff x="0" y="0"/>
            <a:chExt cx="5420360" cy="6517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420360" cy="6517640"/>
            </a:xfrm>
            <a:custGeom>
              <a:avLst/>
              <a:gdLst/>
              <a:ahLst/>
              <a:cxnLst/>
              <a:rect r="r" b="b" t="t" l="l"/>
              <a:pathLst>
                <a:path h="6517640" w="5420360">
                  <a:moveTo>
                    <a:pt x="0" y="903351"/>
                  </a:moveTo>
                  <a:cubicBezTo>
                    <a:pt x="0" y="404495"/>
                    <a:pt x="404495" y="0"/>
                    <a:pt x="903351" y="0"/>
                  </a:cubicBezTo>
                  <a:lnTo>
                    <a:pt x="4517009" y="0"/>
                  </a:lnTo>
                  <a:cubicBezTo>
                    <a:pt x="5015992" y="0"/>
                    <a:pt x="5420360" y="404495"/>
                    <a:pt x="5420360" y="903351"/>
                  </a:cubicBezTo>
                  <a:lnTo>
                    <a:pt x="5420360" y="5614289"/>
                  </a:lnTo>
                  <a:cubicBezTo>
                    <a:pt x="5420360" y="6113272"/>
                    <a:pt x="5015865" y="6517640"/>
                    <a:pt x="4517009" y="6517640"/>
                  </a:cubicBezTo>
                  <a:lnTo>
                    <a:pt x="903351" y="6517640"/>
                  </a:lnTo>
                  <a:cubicBezTo>
                    <a:pt x="404495" y="6517640"/>
                    <a:pt x="0" y="6113145"/>
                    <a:pt x="0" y="561428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1E8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3400532" y="3593592"/>
            <a:ext cx="3154680" cy="891540"/>
            <a:chOff x="0" y="0"/>
            <a:chExt cx="4206240" cy="11887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206240" cy="1188720"/>
            </a:xfrm>
            <a:custGeom>
              <a:avLst/>
              <a:gdLst/>
              <a:ahLst/>
              <a:cxnLst/>
              <a:rect r="r" b="b" t="t" l="l"/>
              <a:pathLst>
                <a:path h="118872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947" r="0" b="-1894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9525"/>
              <a:ext cx="4206240" cy="1179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E4B36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66.1%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414248" y="4594860"/>
            <a:ext cx="3154680" cy="1234440"/>
            <a:chOff x="0" y="0"/>
            <a:chExt cx="4206240" cy="16459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2062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5" t="0" r="-205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420624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of variation in overall satisfaction explained by the three-factor model</a:t>
              </a:r>
            </a:p>
          </p:txBody>
        </p:sp>
      </p:grpSp>
      <p:sp>
        <p:nvSpPr>
          <p:cNvPr name="AutoShape 54" id="54"/>
          <p:cNvSpPr/>
          <p:nvPr/>
        </p:nvSpPr>
        <p:spPr>
          <a:xfrm rot="23160">
            <a:off x="13541854" y="6208586"/>
            <a:ext cx="2830897" cy="0"/>
          </a:xfrm>
          <a:prstGeom prst="line">
            <a:avLst/>
          </a:prstGeom>
          <a:ln cap="rnd" w="9525">
            <a:solidFill>
              <a:srgbClr val="D9E1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5" id="55"/>
          <p:cNvGrpSpPr/>
          <p:nvPr/>
        </p:nvGrpSpPr>
        <p:grpSpPr>
          <a:xfrm rot="0">
            <a:off x="13414248" y="6542532"/>
            <a:ext cx="3154680" cy="480060"/>
            <a:chOff x="0" y="0"/>
            <a:chExt cx="4206240" cy="6400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206240" cy="640080"/>
            </a:xfrm>
            <a:custGeom>
              <a:avLst/>
              <a:gdLst/>
              <a:ahLst/>
              <a:cxnLst/>
              <a:rect r="r" b="b" t="t" l="l"/>
              <a:pathLst>
                <a:path h="64008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044" r="0" b="-7804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420624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532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647,106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3414248" y="7022592"/>
            <a:ext cx="3154680" cy="342900"/>
            <a:chOff x="0" y="0"/>
            <a:chExt cx="4206240" cy="4572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206240" cy="457200"/>
            </a:xfrm>
            <a:custGeom>
              <a:avLst/>
              <a:gdLst/>
              <a:ahLst/>
              <a:cxnLst/>
              <a:rect r="r" b="b" t="t" l="l"/>
              <a:pathLst>
                <a:path h="4572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262" r="0" b="-129262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420624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Aptos"/>
                  <a:ea typeface="Aptos"/>
                  <a:cs typeface="Aptos"/>
                  <a:sym typeface="Aptos"/>
                </a:rPr>
                <a:t>complete cases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69848" y="8394192"/>
            <a:ext cx="1783080" cy="342900"/>
            <a:chOff x="0" y="0"/>
            <a:chExt cx="2377440" cy="4572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377440" cy="457200"/>
            </a:xfrm>
            <a:custGeom>
              <a:avLst/>
              <a:gdLst/>
              <a:ahLst/>
              <a:cxnLst/>
              <a:rect r="r" b="b" t="t" l="l"/>
              <a:pathLst>
                <a:path h="45720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237744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177E8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Interpretation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2674620" y="8257032"/>
            <a:ext cx="13990320" cy="754380"/>
            <a:chOff x="0" y="0"/>
            <a:chExt cx="18653760" cy="10058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8653761" cy="1005840"/>
            </a:xfrm>
            <a:custGeom>
              <a:avLst/>
              <a:gdLst/>
              <a:ahLst/>
              <a:cxnLst/>
              <a:rect r="r" b="b" t="t" l="l"/>
              <a:pathLst>
                <a:path h="1005840" w="18653761">
                  <a:moveTo>
                    <a:pt x="0" y="0"/>
                  </a:moveTo>
                  <a:lnTo>
                    <a:pt x="18653761" y="0"/>
                  </a:lnTo>
                  <a:lnTo>
                    <a:pt x="1865376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358" r="0" b="-311358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9525"/>
              <a:ext cx="18653760" cy="996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7"/>
                </a:lnSpc>
              </a:pPr>
              <a:r>
                <a:rPr lang="en-US" sz="1814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When the three dimensions are considered together, senior-leadership perceptions remain the strongest independent correlate of satisfaction, followed by the intrinsic experience of the work itself.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7675352" y="9811512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238506"/>
            <a:chOff x="0" y="0"/>
            <a:chExt cx="24408790" cy="3180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318008"/>
            </a:xfrm>
            <a:custGeom>
              <a:avLst/>
              <a:gdLst/>
              <a:ahLst/>
              <a:cxnLst/>
              <a:rect r="r" b="b" t="t" l="l"/>
              <a:pathLst>
                <a:path h="318008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318008"/>
                  </a:lnTo>
                  <a:lnTo>
                    <a:pt x="0" y="318008"/>
                  </a:lnTo>
                  <a:close/>
                </a:path>
              </a:pathLst>
            </a:custGeom>
            <a:solidFill>
              <a:srgbClr val="15324B"/>
            </a:solidFill>
            <a:ln w="19050" cap="sq">
              <a:solidFill>
                <a:srgbClr val="15324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9793224"/>
            <a:ext cx="12070080" cy="246888"/>
            <a:chOff x="0" y="0"/>
            <a:chExt cx="16093440" cy="3291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093439" cy="329184"/>
            </a:xfrm>
            <a:custGeom>
              <a:avLst/>
              <a:gdLst/>
              <a:ahLst/>
              <a:cxnLst/>
              <a:rect r="r" b="b" t="t" l="l"/>
              <a:pathLst>
                <a:path h="329184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601" r="0" b="-90260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609344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6B7280"/>
                  </a:solidFill>
                  <a:latin typeface="Aptos"/>
                  <a:ea typeface="Aptos"/>
                  <a:cs typeface="Aptos"/>
                  <a:sym typeface="Aptos"/>
                </a:rPr>
                <a:t>2024 OPM Federal Employee Viewpoint Survey • People Analytics Case Study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950440" y="9793224"/>
            <a:ext cx="2537460" cy="246888"/>
            <a:chOff x="0" y="0"/>
            <a:chExt cx="3383280" cy="3291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83280" cy="329184"/>
            </a:xfrm>
            <a:custGeom>
              <a:avLst/>
              <a:gdLst/>
              <a:ahLst/>
              <a:cxnLst/>
              <a:rect r="r" b="b" t="t" l="l"/>
              <a:pathLst>
                <a:path h="329184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262" r="0" b="-15026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38328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B7280"/>
                  </a:solidFill>
                  <a:latin typeface="Aptos"/>
                  <a:ea typeface="Aptos"/>
                  <a:cs typeface="Aptos"/>
                  <a:sym typeface="Aptos"/>
                </a:rPr>
                <a:t>Vanessa Gray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0392" y="658368"/>
            <a:ext cx="5212080" cy="392069"/>
            <a:chOff x="0" y="0"/>
            <a:chExt cx="6949440" cy="5227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49440" cy="522758"/>
            </a:xfrm>
            <a:custGeom>
              <a:avLst/>
              <a:gdLst/>
              <a:ahLst/>
              <a:cxnLst/>
              <a:rect r="r" b="b" t="t" l="l"/>
              <a:pathLst>
                <a:path h="52275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522758"/>
                  </a:lnTo>
                  <a:lnTo>
                    <a:pt x="0" y="5227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548" r="0" b="-19751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6949440" cy="5322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b="true" sz="2099" spc="251">
                  <a:solidFill>
                    <a:srgbClr val="177E8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THE ACTION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0392" y="1069848"/>
            <a:ext cx="16459200" cy="1069848"/>
            <a:chOff x="0" y="0"/>
            <a:chExt cx="21945600" cy="14264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426464"/>
            </a:xfrm>
            <a:custGeom>
              <a:avLst/>
              <a:gdLst/>
              <a:ahLst/>
              <a:cxnLst/>
              <a:rect r="r" b="b" t="t" l="l"/>
              <a:pathLst>
                <a:path h="142646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9769" r="0" b="-24976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1945600" cy="1426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532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If the goal is higher satisfaction, start above the supervisor level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77824" y="2139696"/>
            <a:ext cx="16047720" cy="617220"/>
            <a:chOff x="0" y="0"/>
            <a:chExt cx="21396960" cy="8229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96961" cy="822960"/>
            </a:xfrm>
            <a:custGeom>
              <a:avLst/>
              <a:gdLst/>
              <a:ahLst/>
              <a:cxnLst/>
              <a:rect r="r" b="b" t="t" l="l"/>
              <a:pathLst>
                <a:path h="8229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6610" r="0" b="-45661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39696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B7280"/>
                  </a:solidFill>
                  <a:latin typeface="Aptos"/>
                  <a:ea typeface="Aptos"/>
                  <a:cs typeface="Aptos"/>
                  <a:sym typeface="Aptos"/>
                </a:rPr>
                <a:t>The data points to an organization-wide opportunity: strengthen trust in senior leadership while protecting the parts of work that create accomplishment and meaning.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82015" y="3254883"/>
            <a:ext cx="5299710" cy="4202430"/>
            <a:chOff x="0" y="0"/>
            <a:chExt cx="7066280" cy="56032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66280" cy="5603240"/>
            </a:xfrm>
            <a:custGeom>
              <a:avLst/>
              <a:gdLst/>
              <a:ahLst/>
              <a:cxnLst/>
              <a:rect r="r" b="b" t="t" l="l"/>
              <a:pathLst>
                <a:path h="5603240" w="7066280">
                  <a:moveTo>
                    <a:pt x="0" y="933831"/>
                  </a:moveTo>
                  <a:cubicBezTo>
                    <a:pt x="0" y="418084"/>
                    <a:pt x="418084" y="0"/>
                    <a:pt x="933831" y="0"/>
                  </a:cubicBezTo>
                  <a:lnTo>
                    <a:pt x="6132449" y="0"/>
                  </a:lnTo>
                  <a:cubicBezTo>
                    <a:pt x="6648196" y="0"/>
                    <a:pt x="7066280" y="418084"/>
                    <a:pt x="7066280" y="933831"/>
                  </a:cubicBezTo>
                  <a:lnTo>
                    <a:pt x="7066280" y="4669409"/>
                  </a:lnTo>
                  <a:cubicBezTo>
                    <a:pt x="7066280" y="5185156"/>
                    <a:pt x="6648196" y="5603240"/>
                    <a:pt x="6132449" y="5603240"/>
                  </a:cubicBezTo>
                  <a:lnTo>
                    <a:pt x="933831" y="5603240"/>
                  </a:lnTo>
                  <a:cubicBezTo>
                    <a:pt x="418084" y="5603240"/>
                    <a:pt x="0" y="5185156"/>
                    <a:pt x="0" y="46694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1E8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34440" y="3607308"/>
            <a:ext cx="754380" cy="521208"/>
            <a:chOff x="0" y="0"/>
            <a:chExt cx="1005840" cy="69494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5840" cy="694944"/>
            </a:xfrm>
            <a:custGeom>
              <a:avLst/>
              <a:gdLst/>
              <a:ahLst/>
              <a:cxnLst/>
              <a:rect r="r" b="b" t="t" l="l"/>
              <a:pathLst>
                <a:path h="694944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8646" t="0" r="-38646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00584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77E8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34440" y="4334256"/>
            <a:ext cx="4457700" cy="850392"/>
            <a:chOff x="0" y="0"/>
            <a:chExt cx="5943600" cy="11338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9436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139" r="0" b="-5213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594360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532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Make leadership visible and credible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34440" y="5596128"/>
            <a:ext cx="4498848" cy="1261872"/>
            <a:chOff x="0" y="0"/>
            <a:chExt cx="5998464" cy="168249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998464" cy="1682496"/>
            </a:xfrm>
            <a:custGeom>
              <a:avLst/>
              <a:gdLst/>
              <a:ahLst/>
              <a:cxnLst/>
              <a:rect r="r" b="b" t="t" l="l"/>
              <a:pathLst>
                <a:path h="1682496" w="5998464">
                  <a:moveTo>
                    <a:pt x="0" y="0"/>
                  </a:moveTo>
                  <a:lnTo>
                    <a:pt x="5998464" y="0"/>
                  </a:lnTo>
                  <a:lnTo>
                    <a:pt x="5998464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468" r="0" b="-1946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5998464" cy="16824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88"/>
                </a:lnSpc>
              </a:pPr>
              <a:r>
                <a:rPr lang="en-US" sz="1739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Prioritize communication, integrity, goal clarity and confidence in senior leaders — the strongest independent signal in the model.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478143" y="3254883"/>
            <a:ext cx="5299710" cy="4202430"/>
            <a:chOff x="0" y="0"/>
            <a:chExt cx="7066280" cy="56032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066280" cy="5603240"/>
            </a:xfrm>
            <a:custGeom>
              <a:avLst/>
              <a:gdLst/>
              <a:ahLst/>
              <a:cxnLst/>
              <a:rect r="r" b="b" t="t" l="l"/>
              <a:pathLst>
                <a:path h="5603240" w="7066280">
                  <a:moveTo>
                    <a:pt x="0" y="933831"/>
                  </a:moveTo>
                  <a:cubicBezTo>
                    <a:pt x="0" y="418084"/>
                    <a:pt x="418084" y="0"/>
                    <a:pt x="933831" y="0"/>
                  </a:cubicBezTo>
                  <a:lnTo>
                    <a:pt x="6132449" y="0"/>
                  </a:lnTo>
                  <a:cubicBezTo>
                    <a:pt x="6648196" y="0"/>
                    <a:pt x="7066280" y="418084"/>
                    <a:pt x="7066280" y="933831"/>
                  </a:cubicBezTo>
                  <a:lnTo>
                    <a:pt x="7066280" y="4669409"/>
                  </a:lnTo>
                  <a:cubicBezTo>
                    <a:pt x="7066280" y="5185156"/>
                    <a:pt x="6648196" y="5603240"/>
                    <a:pt x="6132449" y="5603240"/>
                  </a:cubicBezTo>
                  <a:lnTo>
                    <a:pt x="933831" y="5603240"/>
                  </a:lnTo>
                  <a:cubicBezTo>
                    <a:pt x="418084" y="5603240"/>
                    <a:pt x="0" y="5185156"/>
                    <a:pt x="0" y="46694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1E8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6830568" y="3607308"/>
            <a:ext cx="754380" cy="521208"/>
            <a:chOff x="0" y="0"/>
            <a:chExt cx="1005840" cy="69494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05840" cy="694944"/>
            </a:xfrm>
            <a:custGeom>
              <a:avLst/>
              <a:gdLst/>
              <a:ahLst/>
              <a:cxnLst/>
              <a:rect r="r" b="b" t="t" l="l"/>
              <a:pathLst>
                <a:path h="694944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8646" t="0" r="-38646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100584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532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830568" y="4334256"/>
            <a:ext cx="4457700" cy="850392"/>
            <a:chOff x="0" y="0"/>
            <a:chExt cx="5943600" cy="113385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9436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139" r="0" b="-5213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594360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532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Protect intrinsic work quality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830568" y="5596128"/>
            <a:ext cx="4498848" cy="1261872"/>
            <a:chOff x="0" y="0"/>
            <a:chExt cx="5998464" cy="168249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998464" cy="1682496"/>
            </a:xfrm>
            <a:custGeom>
              <a:avLst/>
              <a:gdLst/>
              <a:ahLst/>
              <a:cxnLst/>
              <a:rect r="r" b="b" t="t" l="l"/>
              <a:pathLst>
                <a:path h="1682496" w="5998464">
                  <a:moveTo>
                    <a:pt x="0" y="0"/>
                  </a:moveTo>
                  <a:lnTo>
                    <a:pt x="5998464" y="0"/>
                  </a:lnTo>
                  <a:lnTo>
                    <a:pt x="5998464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468" r="0" b="-1946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5998464" cy="16824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88"/>
                </a:lnSpc>
              </a:pPr>
              <a:r>
                <a:rPr lang="en-US" sz="1739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Employees need to know what is expected, use their talents, see how their work connects to goals, and feel accomplishment.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074271" y="3254883"/>
            <a:ext cx="5299710" cy="4202430"/>
            <a:chOff x="0" y="0"/>
            <a:chExt cx="7066280" cy="56032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066280" cy="5603240"/>
            </a:xfrm>
            <a:custGeom>
              <a:avLst/>
              <a:gdLst/>
              <a:ahLst/>
              <a:cxnLst/>
              <a:rect r="r" b="b" t="t" l="l"/>
              <a:pathLst>
                <a:path h="5603240" w="7066280">
                  <a:moveTo>
                    <a:pt x="0" y="933831"/>
                  </a:moveTo>
                  <a:cubicBezTo>
                    <a:pt x="0" y="418084"/>
                    <a:pt x="418084" y="0"/>
                    <a:pt x="933831" y="0"/>
                  </a:cubicBezTo>
                  <a:lnTo>
                    <a:pt x="6132449" y="0"/>
                  </a:lnTo>
                  <a:cubicBezTo>
                    <a:pt x="6648196" y="0"/>
                    <a:pt x="7066280" y="418084"/>
                    <a:pt x="7066280" y="933831"/>
                  </a:cubicBezTo>
                  <a:lnTo>
                    <a:pt x="7066280" y="4669409"/>
                  </a:lnTo>
                  <a:cubicBezTo>
                    <a:pt x="7066280" y="5185156"/>
                    <a:pt x="6648196" y="5603240"/>
                    <a:pt x="6132449" y="5603240"/>
                  </a:cubicBezTo>
                  <a:lnTo>
                    <a:pt x="933831" y="5603240"/>
                  </a:lnTo>
                  <a:cubicBezTo>
                    <a:pt x="418084" y="5603240"/>
                    <a:pt x="0" y="5185156"/>
                    <a:pt x="0" y="46694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1E8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2426696" y="3607308"/>
            <a:ext cx="754380" cy="521208"/>
            <a:chOff x="0" y="0"/>
            <a:chExt cx="1005840" cy="69494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05840" cy="694944"/>
            </a:xfrm>
            <a:custGeom>
              <a:avLst/>
              <a:gdLst/>
              <a:ahLst/>
              <a:cxnLst/>
              <a:rect r="r" b="b" t="t" l="l"/>
              <a:pathLst>
                <a:path h="694944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8646" t="0" r="-38646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100584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E4B36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426696" y="4334256"/>
            <a:ext cx="4457700" cy="850392"/>
            <a:chOff x="0" y="0"/>
            <a:chExt cx="5943600" cy="113385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9436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139" r="0" b="-5213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594360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532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Target — don’t generalize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426696" y="5596128"/>
            <a:ext cx="4498848" cy="1261872"/>
            <a:chOff x="0" y="0"/>
            <a:chExt cx="5998464" cy="168249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998464" cy="1682496"/>
            </a:xfrm>
            <a:custGeom>
              <a:avLst/>
              <a:gdLst/>
              <a:ahLst/>
              <a:cxnLst/>
              <a:rect r="r" b="b" t="t" l="l"/>
              <a:pathLst>
                <a:path h="1682496" w="5998464">
                  <a:moveTo>
                    <a:pt x="0" y="0"/>
                  </a:moveTo>
                  <a:lnTo>
                    <a:pt x="5998464" y="0"/>
                  </a:lnTo>
                  <a:lnTo>
                    <a:pt x="5998464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468" r="0" b="-1946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5998464" cy="16824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88"/>
                </a:lnSpc>
              </a:pPr>
              <a:r>
                <a:rPr lang="en-US" sz="1739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Use agency and subgroup cuts to locate where the gaps are largest before choosing interventions or benchmarking teams.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82015" y="7945755"/>
            <a:ext cx="16478250" cy="1006602"/>
            <a:chOff x="0" y="0"/>
            <a:chExt cx="21971000" cy="134213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1971000" cy="1342136"/>
            </a:xfrm>
            <a:custGeom>
              <a:avLst/>
              <a:gdLst/>
              <a:ahLst/>
              <a:cxnLst/>
              <a:rect r="r" b="b" t="t" l="l"/>
              <a:pathLst>
                <a:path h="1342136" w="21971000">
                  <a:moveTo>
                    <a:pt x="0" y="223647"/>
                  </a:moveTo>
                  <a:cubicBezTo>
                    <a:pt x="0" y="100203"/>
                    <a:pt x="100203" y="0"/>
                    <a:pt x="223647" y="0"/>
                  </a:cubicBezTo>
                  <a:lnTo>
                    <a:pt x="21747353" y="0"/>
                  </a:lnTo>
                  <a:cubicBezTo>
                    <a:pt x="21870924" y="0"/>
                    <a:pt x="21971000" y="100203"/>
                    <a:pt x="21971000" y="223647"/>
                  </a:cubicBezTo>
                  <a:lnTo>
                    <a:pt x="21971000" y="1118489"/>
                  </a:lnTo>
                  <a:cubicBezTo>
                    <a:pt x="21971000" y="1242060"/>
                    <a:pt x="21870797" y="1342136"/>
                    <a:pt x="21747353" y="1342136"/>
                  </a:cubicBezTo>
                  <a:lnTo>
                    <a:pt x="223647" y="1342136"/>
                  </a:lnTo>
                  <a:cubicBezTo>
                    <a:pt x="100203" y="1342136"/>
                    <a:pt x="0" y="1241933"/>
                    <a:pt x="0" y="1118489"/>
                  </a:cubicBezTo>
                  <a:close/>
                </a:path>
              </a:pathLst>
            </a:custGeom>
            <a:solidFill>
              <a:srgbClr val="EEF4F7"/>
            </a:solidFill>
            <a:ln w="19050" cap="sq">
              <a:solidFill>
                <a:srgbClr val="EEF4F7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234440" y="8257032"/>
            <a:ext cx="1988820" cy="342900"/>
            <a:chOff x="0" y="0"/>
            <a:chExt cx="2651760" cy="4572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651760" cy="457200"/>
            </a:xfrm>
            <a:custGeom>
              <a:avLst/>
              <a:gdLst/>
              <a:ahLst/>
              <a:cxnLst/>
              <a:rect r="r" b="b" t="t" l="l"/>
              <a:pathLst>
                <a:path h="457200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265176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C66B5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Important limitation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3223260" y="8161020"/>
            <a:ext cx="13647420" cy="521208"/>
            <a:chOff x="0" y="0"/>
            <a:chExt cx="18196560" cy="69494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8196561" cy="694944"/>
            </a:xfrm>
            <a:custGeom>
              <a:avLst/>
              <a:gdLst/>
              <a:ahLst/>
              <a:cxnLst/>
              <a:rect r="r" b="b" t="t" l="l"/>
              <a:pathLst>
                <a:path h="694944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0200" r="0" b="-46020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1819656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4"/>
                </a:lnSpc>
              </a:pPr>
              <a:r>
                <a:rPr lang="en-US" sz="162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This is cross-sectional survey analysis. The results show associations, not causal effects. The next analytical step would be subgroup segmentation and item-level diagnostics within lower-engagement agencies.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17675352" y="9811512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DAHY9UD1qRc</dc:identifier>
  <dcterms:modified xsi:type="dcterms:W3CDTF">2011-08-01T06:04:30Z</dcterms:modified>
  <cp:revision>1</cp:revision>
  <dc:title>Employee Engagement Analysis</dc:title>
</cp:coreProperties>
</file>